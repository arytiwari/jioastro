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" Type="http://schemas.openxmlformats.org/officeDocument/2006/relationships/presProps" Target="presProps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" Type="http://schemas.openxmlformats.org/officeDocument/2006/relationships/viewProps" Target="viewProps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stakes. India needs a trustworthy, AI-native astrology that delivers timing +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is perfect: cultural pull + AI readiness + Jio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 get generic text, can’t act, no follow-through.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triad—personal, proactive, proven—turns belief into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One-liner: a timing engine that helps you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60-sec snapshot funnels into Threads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Copilot finds the best slot this week and books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“Why” shows rules &amp; citations; remedies are guided, tracked.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We’re live, stable, API-first; core astro math is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Divisional charts, yogas, dashas, transits, strengths shipped.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APIs are productionized for key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Experience moat: 12 magical capabilities orchestrated.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Architecture: rules DSL + scoring + feedback loop; diagram in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DFC mapping: layers from interaction to operations &amp;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Trust: Evidence mode, DPDP, consent,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prioritization: India mass first; clear use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Competition matrix: timing+proof+action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Monetization ladder from freemium to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North-star product metrics; focus on habit creation.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Readiness status and demo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Quarterized roadmap aligned to OKRs.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Lean org: product, astro guild, rules/RAG, growth,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path: base/bull/bear; capex-light infra.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&amp; mitigations embedded in product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Asks: budget, FTE, gates; decision required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Vision: own India’s timing engine with Jio.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JioAstro transforms charts into personal timing &amp; action with proof and completion. Engine live; APIs shipped; UX moat via Magical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Base-case assumptions summarized for 12-quarter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Indicative projection; see assumptions. EBITDA before tax; capex minimal.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Success: Calendar events/user &gt; 1.5; CTR &gt; 25%.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Success: streak ≥ 2/week; Why? taps &gt; 20%.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Success: shares/user &gt; 0.3; invites/user &gt; 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JioAstro — India’s AI‑Native Astrology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D91C1F"/>
                </a:solidFill>
              </a:defRPr>
            </a:pPr>
            <a:r>
              <a:t>Personal • Proactive • 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800M+ India internet users</a:t>
            </a:r>
          </a:p>
          <a:p>
            <a:pPr>
              <a:defRPr sz="2000"/>
            </a:pPr>
            <a:r>
              <a:t>Trust gap in astrology</a:t>
            </a:r>
          </a:p>
          <a:p>
            <a:pPr>
              <a:defRPr sz="2000"/>
            </a:pPr>
            <a:r>
              <a:t>AI enables personalization</a:t>
            </a:r>
          </a:p>
          <a:p>
            <a:pPr>
              <a:defRPr sz="2000"/>
            </a:pPr>
            <a:r>
              <a:t>Jio reach lowers CAC</a:t>
            </a:r>
          </a:p>
          <a:p>
            <a:pPr>
              <a:defRPr sz="2000"/>
            </a:pPr>
            <a:r>
              <a:t>Winner will own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Generic, one‑size advice</a:t>
            </a:r>
          </a:p>
          <a:p>
            <a:pPr>
              <a:defRPr sz="2000"/>
            </a:pPr>
            <a:r>
              <a:t>Offline, unaccountable flows</a:t>
            </a:r>
          </a:p>
          <a:p>
            <a:pPr>
              <a:defRPr sz="2000"/>
            </a:pPr>
            <a:r>
              <a:t>No timing/activation help</a:t>
            </a:r>
          </a:p>
          <a:p>
            <a:pPr>
              <a:defRPr sz="2000"/>
            </a:pPr>
            <a:r>
              <a:t>Remedies not actionable</a:t>
            </a:r>
          </a:p>
          <a:p>
            <a:pPr>
              <a:defRPr sz="2000"/>
            </a:pPr>
            <a:r>
              <a:t>Zero proof, zero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Personalization drives trust</a:t>
            </a:r>
          </a:p>
          <a:p>
            <a:pPr>
              <a:defRPr sz="2000"/>
            </a:pPr>
            <a:r>
              <a:t>Proactivity drives usage</a:t>
            </a:r>
          </a:p>
          <a:p>
            <a:pPr>
              <a:defRPr sz="2000"/>
            </a:pPr>
            <a:r>
              <a:t>Proof drives retention</a:t>
            </a:r>
          </a:p>
          <a:p>
            <a:pPr>
              <a:defRPr sz="2000"/>
            </a:pPr>
            <a:r>
              <a:t>Rituals need guidance</a:t>
            </a:r>
          </a:p>
          <a:p>
            <a:pPr>
              <a:defRPr sz="2000"/>
            </a:pPr>
            <a:r>
              <a:t>Calendar beats horoscope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Solution (One 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Personal timing engine</a:t>
            </a:r>
          </a:p>
          <a:p>
            <a:pPr>
              <a:defRPr sz="2000"/>
            </a:pPr>
            <a:r>
              <a:t>Predicts high‑value windows</a:t>
            </a:r>
          </a:p>
          <a:p>
            <a:pPr>
              <a:defRPr sz="2000"/>
            </a:pPr>
            <a:r>
              <a:t>Justifies with evidence</a:t>
            </a:r>
          </a:p>
          <a:p>
            <a:pPr>
              <a:defRPr sz="2000"/>
            </a:pPr>
            <a:r>
              <a:t>Guides to completion</a:t>
            </a:r>
          </a:p>
          <a:p>
            <a:pPr>
              <a:defRPr sz="2000"/>
            </a:pPr>
            <a:r>
              <a:t>Calendar + remedies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Product Demo 1: Snapshot →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One‑tap life snapshot</a:t>
            </a:r>
          </a:p>
          <a:p>
            <a:pPr>
              <a:defRPr sz="2000"/>
            </a:pPr>
            <a:r>
              <a:t>60‑sec 3×3×3 brief</a:t>
            </a:r>
          </a:p>
          <a:p>
            <a:pPr>
              <a:defRPr sz="2000"/>
            </a:pPr>
            <a:r>
              <a:t>Life Threads timeline</a:t>
            </a:r>
          </a:p>
          <a:p>
            <a:pPr>
              <a:defRPr sz="2000"/>
            </a:pPr>
            <a:r>
              <a:t>Peaks/dips by dasha</a:t>
            </a:r>
          </a:p>
          <a:p>
            <a:pPr>
              <a:defRPr sz="2000"/>
            </a:pPr>
            <a:r>
              <a:t>Save key 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Product Demo 2: Decision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Ask: best time this week</a:t>
            </a:r>
          </a:p>
          <a:p>
            <a:pPr>
              <a:defRPr sz="2000"/>
            </a:pPr>
            <a:r>
              <a:t>Calendar‑linked muhurta</a:t>
            </a:r>
          </a:p>
          <a:p>
            <a:pPr>
              <a:defRPr sz="2000"/>
            </a:pPr>
            <a:r>
              <a:t>Prashna back‑up path</a:t>
            </a:r>
          </a:p>
          <a:p>
            <a:pPr>
              <a:defRPr sz="2000"/>
            </a:pPr>
            <a:r>
              <a:t>1‑tap calendar add</a:t>
            </a:r>
          </a:p>
          <a:p>
            <a:pPr>
              <a:defRPr sz="2000"/>
            </a:pPr>
            <a:r>
              <a:t>Nudges to prepare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Product Demo 3: Proof → Remedy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“Why” evidence mode</a:t>
            </a:r>
          </a:p>
          <a:p>
            <a:pPr>
              <a:defRPr sz="2000"/>
            </a:pPr>
            <a:r>
              <a:t>Text citations + scores</a:t>
            </a:r>
          </a:p>
          <a:p>
            <a:pPr>
              <a:defRPr sz="2000"/>
            </a:pPr>
            <a:r>
              <a:t>Remedy checklists</a:t>
            </a:r>
          </a:p>
          <a:p>
            <a:pPr>
              <a:defRPr sz="2000"/>
            </a:pPr>
            <a:r>
              <a:t>Audio mantra guide</a:t>
            </a:r>
          </a:p>
          <a:p>
            <a:pPr>
              <a:defRPr sz="2000"/>
            </a:pPr>
            <a:r>
              <a:t>Streaks,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What’s Built (Now)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Clean background jobs</a:t>
            </a:r>
          </a:p>
          <a:p>
            <a:pPr>
              <a:defRPr sz="2000"/>
            </a:pPr>
            <a:r>
              <a:t>Backend @ :8000 healthy</a:t>
            </a:r>
          </a:p>
          <a:p>
            <a:pPr>
              <a:defRPr sz="2000"/>
            </a:pPr>
            <a:r>
              <a:t>Supabase REST + API brand</a:t>
            </a:r>
          </a:p>
          <a:p>
            <a:pPr>
              <a:defRPr sz="2000"/>
            </a:pPr>
            <a:r>
              <a:t>Frontend @ :3001 stable</a:t>
            </a:r>
          </a:p>
          <a:p>
            <a:pPr>
              <a:defRPr sz="2000"/>
            </a:pPr>
            <a:r>
              <a:t>Phases 2–4 shipped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Phases 2–4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16 divisional charts</a:t>
            </a:r>
          </a:p>
          <a:p>
            <a:pPr>
              <a:defRPr sz="2000"/>
            </a:pPr>
            <a:r>
              <a:t>6 doshas; 50+ yogas</a:t>
            </a:r>
          </a:p>
          <a:p>
            <a:pPr>
              <a:defRPr sz="2000"/>
            </a:pPr>
            <a:r>
              <a:t>Vimshottari MD/AD/PD</a:t>
            </a:r>
          </a:p>
          <a:p>
            <a:pPr>
              <a:defRPr sz="2000"/>
            </a:pPr>
            <a:r>
              <a:t>Transits; Sade Sati; Ashtama</a:t>
            </a:r>
          </a:p>
          <a:p>
            <a:pPr>
              <a:defRPr sz="2000"/>
            </a:pPr>
            <a:r>
              <a:t>Shadbala + rich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API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/yogas/analyze</a:t>
            </a:r>
          </a:p>
          <a:p>
            <a:pPr>
              <a:defRPr sz="2000"/>
            </a:pPr>
            <a:r>
              <a:t>/transits/current</a:t>
            </a:r>
          </a:p>
          <a:p>
            <a:pPr>
              <a:defRPr sz="2000"/>
            </a:pPr>
            <a:r>
              <a:t>/shadbala/calculate</a:t>
            </a:r>
          </a:p>
          <a:p>
            <a:pPr>
              <a:defRPr sz="2000"/>
            </a:pPr>
            <a:r>
              <a:t>/remedies/generate</a:t>
            </a:r>
          </a:p>
          <a:p>
            <a:pPr>
              <a:defRPr sz="2000"/>
            </a:pPr>
            <a:r>
              <a:t>/rectification/calculate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Magical 12 (Experience) —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One‑Tap Snapshot</a:t>
            </a:r>
          </a:p>
          <a:p>
            <a:pPr>
              <a:defRPr sz="2000"/>
            </a:pPr>
            <a:r>
              <a:t>Life Threads Timeline</a:t>
            </a:r>
          </a:p>
          <a:p>
            <a:pPr>
              <a:defRPr sz="2000"/>
            </a:pPr>
            <a:r>
              <a:t>Decision Copilot</a:t>
            </a:r>
          </a:p>
          <a:p>
            <a:pPr>
              <a:defRPr sz="2000"/>
            </a:pPr>
            <a:r>
              <a:t>Transit Pulse Cards</a:t>
            </a:r>
          </a:p>
          <a:p>
            <a:pPr>
              <a:defRPr sz="2000"/>
            </a:pPr>
            <a:r>
              <a:t>Remedy Planner (streaks)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Magical 12 (Experience) —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AstroTwin Circles</a:t>
            </a:r>
          </a:p>
          <a:p>
            <a:pPr>
              <a:defRPr sz="2000"/>
            </a:pPr>
            <a:r>
              <a:t>Guided Rituals (AR/voice)</a:t>
            </a:r>
          </a:p>
          <a:p>
            <a:pPr>
              <a:defRPr sz="2000"/>
            </a:pPr>
            <a:r>
              <a:t>Evidence Mode (RAG)</a:t>
            </a:r>
          </a:p>
          <a:p>
            <a:pPr>
              <a:defRPr sz="2000"/>
            </a:pPr>
            <a:r>
              <a:t>Expert Console (Pro)</a:t>
            </a:r>
          </a:p>
          <a:p>
            <a:pPr>
              <a:defRPr sz="2000"/>
            </a:pPr>
            <a:r>
              <a:t>Reality‑Check Loop</a:t>
            </a:r>
          </a:p>
          <a:p>
            <a:pPr>
              <a:defRPr sz="2000"/>
            </a:pPr>
            <a:r>
              <a:t>Hyperlocal Panchang</a:t>
            </a:r>
          </a:p>
          <a:p>
            <a:pPr>
              <a:defRPr sz="2000"/>
            </a:pPr>
            <a:r>
              <a:t>Story Reels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Architecture &amp;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Rules DSL + scoring</a:t>
            </a:r>
          </a:p>
          <a:p>
            <a:pPr>
              <a:defRPr sz="2000"/>
            </a:pPr>
            <a:r>
              <a:t>12‑Layer DFC mapped</a:t>
            </a:r>
          </a:p>
          <a:p>
            <a:pPr>
              <a:defRPr sz="2000"/>
            </a:pPr>
            <a:r>
              <a:t>RAG over classics</a:t>
            </a:r>
          </a:p>
          <a:p>
            <a:pPr>
              <a:defRPr sz="2000"/>
            </a:pPr>
            <a:r>
              <a:t>Feedback personalization</a:t>
            </a:r>
          </a:p>
          <a:p>
            <a:pPr>
              <a:defRPr sz="2000"/>
            </a:pPr>
            <a:r>
              <a:t>Jio distribution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DFC Mapping (12 Layers)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Interaction → Integration</a:t>
            </a:r>
          </a:p>
          <a:p>
            <a:pPr>
              <a:defRPr sz="2000"/>
            </a:pPr>
            <a:r>
              <a:t>Records → Data → AI</a:t>
            </a:r>
          </a:p>
          <a:p>
            <a:pPr>
              <a:defRPr sz="2000"/>
            </a:pPr>
            <a:r>
              <a:t>Operations → Observability</a:t>
            </a:r>
          </a:p>
          <a:p>
            <a:pPr>
              <a:defRPr sz="2000"/>
            </a:pPr>
            <a:r>
              <a:t>Security &amp; EA overlays</a:t>
            </a:r>
          </a:p>
          <a:p>
            <a:pPr>
              <a:defRPr sz="2000"/>
            </a:pPr>
            <a:r>
              <a:t>SDLC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Trust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Evidence mode: “Why?”</a:t>
            </a:r>
          </a:p>
          <a:p>
            <a:pPr>
              <a:defRPr sz="2000"/>
            </a:pPr>
            <a:r>
              <a:t>Confidence bands shown</a:t>
            </a:r>
          </a:p>
          <a:p>
            <a:pPr>
              <a:defRPr sz="2000"/>
            </a:pPr>
            <a:r>
              <a:t>DPDP compliance, consent</a:t>
            </a:r>
          </a:p>
          <a:p>
            <a:pPr>
              <a:defRPr sz="2000"/>
            </a:pPr>
            <a:r>
              <a:t>Claims &amp; minors policy</a:t>
            </a:r>
          </a:p>
          <a:p>
            <a:pPr>
              <a:defRPr sz="2000"/>
            </a:pPr>
            <a:r>
              <a:t>Audit, export/delete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Market &amp;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India mass market first</a:t>
            </a:r>
          </a:p>
          <a:p>
            <a:pPr>
              <a:defRPr sz="2000"/>
            </a:pPr>
            <a:r>
              <a:t>Youth, families, SMBs</a:t>
            </a:r>
          </a:p>
          <a:p>
            <a:pPr>
              <a:defRPr sz="2000"/>
            </a:pPr>
            <a:r>
              <a:t>Study, jobs, marriage</a:t>
            </a:r>
          </a:p>
          <a:p>
            <a:pPr>
              <a:defRPr sz="2000"/>
            </a:pPr>
            <a:r>
              <a:t>Health/surgery timing</a:t>
            </a:r>
          </a:p>
          <a:p>
            <a:pPr>
              <a:defRPr sz="2000"/>
            </a:pPr>
            <a:r>
              <a:t>Money timing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Generic apps: no proof</a:t>
            </a:r>
          </a:p>
          <a:p>
            <a:pPr>
              <a:defRPr sz="2000"/>
            </a:pPr>
            <a:r>
              <a:t>Chatbots: no timings</a:t>
            </a:r>
          </a:p>
          <a:p>
            <a:pPr>
              <a:defRPr sz="2000"/>
            </a:pPr>
            <a:r>
              <a:t>Humans scarce &amp; variable</a:t>
            </a:r>
          </a:p>
          <a:p>
            <a:pPr>
              <a:defRPr sz="2000"/>
            </a:pPr>
            <a:r>
              <a:t>Timing+proof+action edge</a:t>
            </a:r>
          </a:p>
          <a:p>
            <a:pPr>
              <a:defRPr sz="2000"/>
            </a:pPr>
            <a:r>
              <a:t>Lowest CAC via Jio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Freemium app</a:t>
            </a:r>
          </a:p>
          <a:p>
            <a:pPr>
              <a:defRPr sz="2000"/>
            </a:pPr>
            <a:r>
              <a:t>Pro subscription</a:t>
            </a:r>
          </a:p>
          <a:p>
            <a:pPr>
              <a:defRPr sz="2000"/>
            </a:pPr>
            <a:r>
              <a:t>Remedies marketplace</a:t>
            </a:r>
          </a:p>
          <a:p>
            <a:pPr>
              <a:defRPr sz="2000"/>
            </a:pPr>
            <a:r>
              <a:t>Expert console SaaS</a:t>
            </a:r>
          </a:p>
          <a:p>
            <a:pPr>
              <a:defRPr sz="2000"/>
            </a:pPr>
            <a:r>
              <a:t>Enterprise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Metrics That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Day‑0 “aha” &lt; 60s</a:t>
            </a:r>
          </a:p>
          <a:p>
            <a:pPr>
              <a:defRPr sz="2000"/>
            </a:pPr>
            <a:r>
              <a:t>D7 retention &gt; 30%</a:t>
            </a:r>
          </a:p>
          <a:p>
            <a:pPr>
              <a:defRPr sz="2000"/>
            </a:pPr>
            <a:r>
              <a:t>Share rate &gt; 15%</a:t>
            </a:r>
          </a:p>
          <a:p>
            <a:pPr>
              <a:defRPr sz="2000"/>
            </a:pPr>
            <a:r>
              <a:t>Calendar adds &gt; 1.5</a:t>
            </a:r>
          </a:p>
          <a:p>
            <a:pPr>
              <a:defRPr sz="2000"/>
            </a:pPr>
            <a:r>
              <a:t>Streak ≥ 2/week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Traction &amp;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Engine built, stable</a:t>
            </a:r>
          </a:p>
          <a:p>
            <a:pPr>
              <a:defRPr sz="2000"/>
            </a:pPr>
            <a:r>
              <a:t>Frontend components live</a:t>
            </a:r>
          </a:p>
          <a:p>
            <a:pPr>
              <a:defRPr sz="2000"/>
            </a:pPr>
            <a:r>
              <a:t>API suite ready</a:t>
            </a:r>
          </a:p>
          <a:p>
            <a:pPr>
              <a:defRPr sz="2000"/>
            </a:pPr>
            <a:r>
              <a:t>Data schemas versioned</a:t>
            </a:r>
          </a:p>
          <a:p>
            <a:pPr>
              <a:defRPr sz="2000"/>
            </a:pPr>
            <a:r>
              <a:t>Demo flows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Roadmap (Next 12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Q1: Jaimini, LK, AV+</a:t>
            </a:r>
          </a:p>
          <a:p>
            <a:pPr>
              <a:defRPr sz="2000"/>
            </a:pPr>
            <a:r>
              <a:t>Q2: Match, Varshaphal</a:t>
            </a:r>
          </a:p>
          <a:p>
            <a:pPr>
              <a:defRPr sz="2000"/>
            </a:pPr>
            <a:r>
              <a:t>Q3: Muhurta, Prashna</a:t>
            </a:r>
          </a:p>
          <a:p>
            <a:pPr>
              <a:defRPr sz="2000"/>
            </a:pPr>
            <a:r>
              <a:t>Q4: Palmistry, Social</a:t>
            </a:r>
          </a:p>
          <a:p>
            <a:pPr>
              <a:defRPr sz="2000"/>
            </a:pPr>
            <a:r>
              <a:t>Reporting, Mobile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Org &amp; Team (Lean)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Product &amp; Design</a:t>
            </a:r>
          </a:p>
          <a:p>
            <a:pPr>
              <a:defRPr sz="2000"/>
            </a:pPr>
            <a:r>
              <a:t>Astro‑science guild</a:t>
            </a:r>
          </a:p>
          <a:p>
            <a:pPr>
              <a:defRPr sz="2000"/>
            </a:pPr>
            <a:r>
              <a:t>Rules/RAG engineers</a:t>
            </a:r>
          </a:p>
          <a:p>
            <a:pPr>
              <a:defRPr sz="2000"/>
            </a:pPr>
            <a:r>
              <a:t>Mobile &amp; Growth</a:t>
            </a:r>
          </a:p>
          <a:p>
            <a:pPr>
              <a:defRPr sz="2000"/>
            </a:pPr>
            <a:r>
              <a:t>Trust, Ops,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Financials (12Q)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Base: breakeven early</a:t>
            </a:r>
          </a:p>
          <a:p>
            <a:pPr>
              <a:defRPr sz="2000"/>
            </a:pPr>
            <a:r>
              <a:t>Bull: viral + marketplace</a:t>
            </a:r>
          </a:p>
          <a:p>
            <a:pPr>
              <a:defRPr sz="2000"/>
            </a:pPr>
            <a:r>
              <a:t>Bear: paid‑led growth</a:t>
            </a:r>
          </a:p>
          <a:p>
            <a:pPr>
              <a:defRPr sz="2000"/>
            </a:pPr>
            <a:r>
              <a:t>CAC/LTV explicit</a:t>
            </a:r>
          </a:p>
          <a:p>
            <a:pPr>
              <a:defRPr sz="2000"/>
            </a:pPr>
            <a:r>
              <a:t>Capex‑light, scalable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Accuracy → golden set</a:t>
            </a:r>
          </a:p>
          <a:p>
            <a:pPr>
              <a:defRPr sz="2000"/>
            </a:pPr>
            <a:r>
              <a:t>Claims → evidence mode</a:t>
            </a:r>
          </a:p>
          <a:p>
            <a:pPr>
              <a:defRPr sz="2000"/>
            </a:pPr>
            <a:r>
              <a:t>Seasonality → pulses</a:t>
            </a:r>
          </a:p>
          <a:p>
            <a:pPr>
              <a:defRPr sz="2000"/>
            </a:pPr>
            <a:r>
              <a:t>Abuse → moderation</a:t>
            </a:r>
          </a:p>
          <a:p>
            <a:pPr>
              <a:defRPr sz="2000"/>
            </a:pPr>
            <a:r>
              <a:t>Churn → calendar + streaks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The Ask (Approval)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₹36 Cr / 12 months</a:t>
            </a:r>
          </a:p>
          <a:p>
            <a:pPr>
              <a:defRPr sz="2000"/>
            </a:pPr>
            <a:r>
              <a:t>42 FTE blended team</a:t>
            </a:r>
          </a:p>
          <a:p>
            <a:pPr>
              <a:defRPr sz="2000"/>
            </a:pPr>
            <a:r>
              <a:t>3 milestone gates</a:t>
            </a:r>
          </a:p>
          <a:p>
            <a:pPr>
              <a:defRPr sz="2000"/>
            </a:pPr>
            <a:r>
              <a:t>Jio cross‑promotion</a:t>
            </a:r>
          </a:p>
          <a:p>
            <a:pPr>
              <a:defRPr sz="2000"/>
            </a:pPr>
            <a:r>
              <a:t>Decision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India’s timing engine</a:t>
            </a:r>
          </a:p>
          <a:p>
            <a:pPr>
              <a:defRPr sz="2000"/>
            </a:pPr>
            <a:r>
              <a:t>Rituals → results</a:t>
            </a:r>
          </a:p>
          <a:p>
            <a:pPr>
              <a:defRPr sz="2000"/>
            </a:pPr>
            <a:r>
              <a:t>Trusted &amp; measurable</a:t>
            </a:r>
          </a:p>
          <a:p>
            <a:pPr>
              <a:defRPr sz="2000"/>
            </a:pPr>
            <a:r>
              <a:t>Jio scale advantage</a:t>
            </a:r>
          </a:p>
          <a:p>
            <a:pPr>
              <a:defRPr sz="2000"/>
            </a:pPr>
            <a:r>
              <a:t>Build it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Appendix A —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Timing + Proof + Action</a:t>
            </a:r>
          </a:p>
          <a:p>
            <a:pPr>
              <a:defRPr sz="2000"/>
            </a:pPr>
            <a:r>
              <a:t>Engine live (8000/3001)</a:t>
            </a:r>
          </a:p>
          <a:p>
            <a:pPr>
              <a:defRPr sz="2000"/>
            </a:pPr>
            <a:r>
              <a:t>APIs prod: yoga/transit</a:t>
            </a:r>
          </a:p>
          <a:p>
            <a:pPr>
              <a:defRPr sz="2000"/>
            </a:pPr>
            <a:r>
              <a:t>Magical 12 UX moat</a:t>
            </a:r>
          </a:p>
          <a:p>
            <a:pPr>
              <a:defRPr sz="2000"/>
            </a:pPr>
            <a:r>
              <a:t>Ask: ₹36Cr, 42 FTE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Appendix C — Mini‑P&amp;L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MAU: 0.2M → 12M</a:t>
            </a:r>
          </a:p>
          <a:p>
            <a:pPr>
              <a:defRPr sz="2000"/>
            </a:pPr>
            <a:r>
              <a:t>Pro: 2.0% → 6.5%</a:t>
            </a:r>
          </a:p>
          <a:p>
            <a:pPr>
              <a:defRPr sz="2000"/>
            </a:pPr>
            <a:r>
              <a:t>ARPU: ₹149/mo</a:t>
            </a:r>
          </a:p>
          <a:p>
            <a:pPr>
              <a:defRPr sz="2000"/>
            </a:pPr>
            <a:r>
              <a:t>Attach: 2% @₹299; 15%</a:t>
            </a:r>
          </a:p>
          <a:p>
            <a:pPr>
              <a:defRPr sz="2000"/>
            </a:pPr>
            <a:r>
              <a:t>Infra: ₹4 + CS ₹0.8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Appendix C — 12‑Quarter Mini‑P&amp;L (₹ Cr)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16523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B1F3A"/>
                          </a:solidFill>
                        </a:defRPr>
                      </a:pPr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B1F3A"/>
                          </a:solidFill>
                        </a:defRPr>
                      </a:pPr>
                      <a:r>
                        <a:t>MAU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B1F3A"/>
                          </a:solidFill>
                        </a:defRPr>
                      </a:pPr>
                      <a:r>
                        <a:t>Pro subs 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B1F3A"/>
                          </a:solidFill>
                        </a:defRPr>
                      </a:pPr>
                      <a:r>
                        <a:t>Rev‑Sub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B1F3A"/>
                          </a:solidFill>
                        </a:defRPr>
                      </a:pPr>
                      <a:r>
                        <a:t>Rev‑Mkt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B1F3A"/>
                          </a:solidFill>
                        </a:defRPr>
                      </a:pPr>
                      <a:r>
                        <a:t>Rev‑Ads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B1F3A"/>
                          </a:solidFill>
                        </a:defRPr>
                      </a:pPr>
                      <a:r>
                        <a:t>Total Rev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B1F3A"/>
                          </a:solidFill>
                        </a:defRPr>
                      </a:pPr>
                      <a:r>
                        <a:t>Var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B1F3A"/>
                          </a:solidFill>
                        </a:defRPr>
                      </a:pPr>
                      <a:r>
                        <a:t>Fixed+Mkt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B1F3A"/>
                          </a:solidFill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24.4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38.7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60.1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87.5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Q9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120.3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178.4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229.4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r>
                        <a:t>Q12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289.1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Appendix D — Demo 1: Snapshot→Calendar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Enter birth details</a:t>
            </a:r>
          </a:p>
          <a:p>
            <a:pPr>
              <a:defRPr sz="2000"/>
            </a:pPr>
            <a:r>
              <a:t>One‑tap Life Snapshot</a:t>
            </a:r>
          </a:p>
          <a:p>
            <a:pPr>
              <a:defRPr sz="2000"/>
            </a:pPr>
            <a:r>
              <a:t>Open Life Threads</a:t>
            </a:r>
          </a:p>
          <a:p>
            <a:pPr>
              <a:defRPr sz="2000"/>
            </a:pPr>
            <a:r>
              <a:t>Copilot suggests slots</a:t>
            </a:r>
          </a:p>
          <a:p>
            <a:pPr>
              <a:defRPr sz="2000"/>
            </a:pPr>
            <a:r>
              <a:t>1‑tap calendar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Appendix D — Demo 2: Pulse→Remedy→Evidence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48‑hr negotiation window</a:t>
            </a:r>
          </a:p>
          <a:p>
            <a:pPr>
              <a:defRPr sz="2000"/>
            </a:pPr>
            <a:r>
              <a:t>Remedy Planner steps</a:t>
            </a:r>
          </a:p>
          <a:p>
            <a:pPr>
              <a:defRPr sz="2000"/>
            </a:pPr>
            <a:r>
              <a:t>Audio mantra guidance</a:t>
            </a:r>
          </a:p>
          <a:p>
            <a:pPr>
              <a:defRPr sz="2000"/>
            </a:pPr>
            <a:r>
              <a:t>AR directional alignment</a:t>
            </a:r>
          </a:p>
          <a:p>
            <a:pPr>
              <a:defRPr sz="2000"/>
            </a:pPr>
            <a:r>
              <a:t>Why? with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1F3A"/>
                </a:solidFill>
              </a:defRPr>
            </a:pPr>
            <a:r>
              <a:t>Appendix D — Demo 3: Match→Circle→Reel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Ashtakoot + dasha align</a:t>
            </a:r>
          </a:p>
          <a:p>
            <a:pPr>
              <a:defRPr sz="2000"/>
            </a:pPr>
            <a:r>
              <a:t>Invite AstroTwin circle</a:t>
            </a:r>
          </a:p>
          <a:p>
            <a:pPr>
              <a:defRPr sz="2000"/>
            </a:pPr>
            <a:r>
              <a:t>Weekly story reel</a:t>
            </a:r>
          </a:p>
          <a:p>
            <a:pPr>
              <a:defRPr sz="2000"/>
            </a:pPr>
            <a:r>
              <a:t>Share externally</a:t>
            </a:r>
          </a:p>
          <a:p>
            <a:pPr>
              <a:defRPr sz="2000"/>
            </a:pPr>
            <a:r>
              <a:t>Measure invites &amp; shares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Handout —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JioAstro is an AI‑native astrology platform that fixes the core failure of the category—generic advice without timing, action, or proof. We turn charts into a personal timing engine, justify each recommendation with transparent evidence, and guide users to completion via calendar‑linked actions and remedy checklists.</a:t>
            </a:r>
          </a:p>
          <a:p/>
          <a:p>
            <a:r>
              <a:rPr sz="1400"/>
              <a:t>We are ready: backend healthy @ :8000 (Supabase REST, JioAstro API), frontend stable @ :3001; Phases 2–4 shipped (16 divisional charts, doshas, 50+ yogas, Vimshottari stack, transits, Sade Sati, Ashtama, Shadbala). Production APIs: yogas, transits, shadbala, remedies, rectification.</a:t>
            </a:r>
          </a:p>
          <a:p/>
          <a:p>
            <a:r>
              <a:rPr sz="1400"/>
              <a:t>Our ‘Magical 12’ UX layer is the moat—Snapshot, Threads, Decision Copilot, Pulse Cards, Remedy Planner with streaks, AstroTwin, Evidence Mode, Guided Rituals, Expert Console, Reality‑Check, Hyperlocal Panchang, Story Reels—running on a Rules DSL + Scoring Fabric mapped to the 12‑Layer DFC with RAG over classics and a feedback learning loop, amplified by Jio’s distribution.</a:t>
            </a:r>
          </a:p>
          <a:p/>
          <a:p>
            <a:r>
              <a:rPr sz="1400"/>
              <a:t>Ask: ₹36 Cr over 12 months, 42 FTE, and cross‑promotion. Milestones: Q1 Jaimini/Lal Kitab/Ashtakavarga+, Q2 Matching/Varshaphal/Pulse, Q3 Muhurta/Prashna/Comparison, Q4 Palmistry/Social/Reporting. Targets: D0 &lt;60s; D7 &gt;30%; share &gt;15%; calendar adds &gt;1.5; streak ≥ 2/week.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A5A5A"/>
                </a:solidFill>
              </a:rPr>
              <a:t>JioAstro — Confidential — 2025-11-08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